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4" r:id="rId11"/>
    <p:sldId id="340"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4" d="100"/>
          <a:sy n="64" d="100"/>
        </p:scale>
        <p:origin x="156" y="3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29189" y="2634702"/>
            <a:ext cx="11058934" cy="743448"/>
          </a:xfrm>
        </p:spPr>
        <p:txBody>
          <a:bodyPr>
            <a:normAutofit/>
          </a:bodyPr>
          <a:lstStyle/>
          <a:p>
            <a:r>
              <a:rPr lang="en-GB" sz="3200" dirty="0"/>
              <a:t>Project Title – Seasonal Agricultural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96644" y="4478498"/>
            <a:ext cx="5699355" cy="369332"/>
          </a:xfrm>
          <a:prstGeom prst="rect">
            <a:avLst/>
          </a:prstGeom>
          <a:noFill/>
        </p:spPr>
        <p:txBody>
          <a:bodyPr wrap="square" rtlCol="0">
            <a:spAutoFit/>
          </a:bodyPr>
          <a:lstStyle/>
          <a:p>
            <a:r>
              <a:rPr lang="en-US" b="1" dirty="0"/>
              <a:t>AICTE STU ID :  </a:t>
            </a:r>
            <a:r>
              <a:rPr lang="en-US" dirty="0"/>
              <a:t>STU6a1acf305be631780141872</a:t>
            </a:r>
            <a:endParaRPr lang="en-US" b="1" dirty="0"/>
          </a:p>
        </p:txBody>
      </p:sp>
      <p:sp>
        <p:nvSpPr>
          <p:cNvPr id="2" name="Title 3">
            <a:extLst>
              <a:ext uri="{FF2B5EF4-FFF2-40B4-BE49-F238E27FC236}">
                <a16:creationId xmlns:a16="http://schemas.microsoft.com/office/drawing/2014/main" id="{3931C28F-A251-5792-2421-4A1B7D4DBF03}"/>
              </a:ext>
            </a:extLst>
          </p:cNvPr>
          <p:cNvSpPr txBox="1">
            <a:spLocks/>
          </p:cNvSpPr>
          <p:nvPr/>
        </p:nvSpPr>
        <p:spPr>
          <a:xfrm>
            <a:off x="396645" y="3429000"/>
            <a:ext cx="11058934" cy="743448"/>
          </a:xfrm>
          <a:prstGeom prst="rect">
            <a:avLst/>
          </a:prstGeom>
        </p:spPr>
        <p:txBody>
          <a:bodyPr vert="horz" lIns="91440" tIns="45720" rIns="91440" bIns="45720" rtlCol="0" anchor="t">
            <a:noAutofit/>
          </a:bodyPr>
          <a:lstStyle>
            <a:lvl1pPr algn="l" defTabSz="457200" rtl="0" eaLnBrk="1" latinLnBrk="0" hangingPunct="1">
              <a:spcBef>
                <a:spcPct val="0"/>
              </a:spcBef>
              <a:buNone/>
              <a:defRPr sz="2800" kern="1200">
                <a:solidFill>
                  <a:schemeClr val="tx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400" dirty="0"/>
              <a:t>Name : Melisha Lewis</a:t>
            </a:r>
          </a:p>
          <a:p>
            <a:r>
              <a:rPr lang="en-GB" sz="2400" dirty="0"/>
              <a:t>College Name : NMAM Institute of Technology</a:t>
            </a:r>
            <a:endParaRPr lang="en-IN" sz="24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80">
                                          <p:stCondLst>
                                            <p:cond delay="0"/>
                                          </p:stCondLst>
                                        </p:cTn>
                                        <p:tgtEl>
                                          <p:spTgt spid="2"/>
                                        </p:tgtEl>
                                      </p:cBhvr>
                                    </p:animEffect>
                                    <p:anim calcmode="lin" valueType="num">
                                      <p:cBhvr>
                                        <p:cTn id="33"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8" dur="26">
                                          <p:stCondLst>
                                            <p:cond delay="650"/>
                                          </p:stCondLst>
                                        </p:cTn>
                                        <p:tgtEl>
                                          <p:spTgt spid="2"/>
                                        </p:tgtEl>
                                      </p:cBhvr>
                                      <p:to x="100000" y="60000"/>
                                    </p:animScale>
                                    <p:animScale>
                                      <p:cBhvr>
                                        <p:cTn id="39" dur="166" decel="50000">
                                          <p:stCondLst>
                                            <p:cond delay="676"/>
                                          </p:stCondLst>
                                        </p:cTn>
                                        <p:tgtEl>
                                          <p:spTgt spid="2"/>
                                        </p:tgtEl>
                                      </p:cBhvr>
                                      <p:to x="100000" y="100000"/>
                                    </p:animScale>
                                    <p:animScale>
                                      <p:cBhvr>
                                        <p:cTn id="40" dur="26">
                                          <p:stCondLst>
                                            <p:cond delay="1312"/>
                                          </p:stCondLst>
                                        </p:cTn>
                                        <p:tgtEl>
                                          <p:spTgt spid="2"/>
                                        </p:tgtEl>
                                      </p:cBhvr>
                                      <p:to x="100000" y="80000"/>
                                    </p:animScale>
                                    <p:animScale>
                                      <p:cBhvr>
                                        <p:cTn id="41" dur="166" decel="50000">
                                          <p:stCondLst>
                                            <p:cond delay="1338"/>
                                          </p:stCondLst>
                                        </p:cTn>
                                        <p:tgtEl>
                                          <p:spTgt spid="2"/>
                                        </p:tgtEl>
                                      </p:cBhvr>
                                      <p:to x="100000" y="100000"/>
                                    </p:animScale>
                                    <p:animScale>
                                      <p:cBhvr>
                                        <p:cTn id="42" dur="26">
                                          <p:stCondLst>
                                            <p:cond delay="1642"/>
                                          </p:stCondLst>
                                        </p:cTn>
                                        <p:tgtEl>
                                          <p:spTgt spid="2"/>
                                        </p:tgtEl>
                                      </p:cBhvr>
                                      <p:to x="100000" y="90000"/>
                                    </p:animScale>
                                    <p:animScale>
                                      <p:cBhvr>
                                        <p:cTn id="43" dur="166" decel="50000">
                                          <p:stCondLst>
                                            <p:cond delay="1668"/>
                                          </p:stCondLst>
                                        </p:cTn>
                                        <p:tgtEl>
                                          <p:spTgt spid="2"/>
                                        </p:tgtEl>
                                      </p:cBhvr>
                                      <p:to x="100000" y="100000"/>
                                    </p:animScale>
                                    <p:animScale>
                                      <p:cBhvr>
                                        <p:cTn id="44" dur="26">
                                          <p:stCondLst>
                                            <p:cond delay="1808"/>
                                          </p:stCondLst>
                                        </p:cTn>
                                        <p:tgtEl>
                                          <p:spTgt spid="2"/>
                                        </p:tgtEl>
                                      </p:cBhvr>
                                      <p:to x="100000" y="95000"/>
                                    </p:animScale>
                                    <p:animScale>
                                      <p:cBhvr>
                                        <p:cTn id="45"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79" y="1875556"/>
            <a:ext cx="6995604" cy="3915644"/>
          </a:xfrm>
        </p:spPr>
        <p:txBody>
          <a:bodyPr vert="horz" lIns="91440" tIns="45720" rIns="91440" bIns="45720" rtlCol="0" anchor="t">
            <a:noAutofit/>
          </a:bodyPr>
          <a:lstStyle/>
          <a:p>
            <a:r>
              <a:rPr lang="en-IN" sz="2400" dirty="0">
                <a:latin typeface="Times New Roman" panose="02020603050405020304" pitchFamily="18" charset="0"/>
                <a:cs typeface="Times New Roman" panose="02020603050405020304" pitchFamily="18" charset="0"/>
              </a:rPr>
              <a:t>Agricultural performance varies across seasons due to changes in environmental conditions, farming practices, resource availability, and market factors. This project aims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and compare agricultural performance across different seasons by identifying patterns and trends in </a:t>
            </a:r>
            <a:r>
              <a:rPr lang="en-IN" sz="2400" b="1" dirty="0">
                <a:latin typeface="Times New Roman" panose="02020603050405020304" pitchFamily="18" charset="0"/>
                <a:cs typeface="Times New Roman" panose="02020603050405020304" pitchFamily="18" charset="0"/>
              </a:rPr>
              <a:t>crop yield, resource usage, and economic performance</a:t>
            </a:r>
            <a:r>
              <a:rPr lang="en-IN" sz="2400" dirty="0">
                <a:latin typeface="Times New Roman" panose="02020603050405020304" pitchFamily="18" charset="0"/>
                <a:cs typeface="Times New Roman" panose="02020603050405020304" pitchFamily="18" charset="0"/>
              </a:rPr>
              <a:t>, helping to support better agricultural planning, efficient resource management, and improved farming decisions.</a:t>
            </a:r>
          </a:p>
          <a:p>
            <a:pPr marL="0" indent="0">
              <a:lnSpc>
                <a:spcPct val="100000"/>
              </a:lnSpc>
              <a:buNone/>
            </a:pPr>
            <a:endParaRPr lang="en-IN" sz="2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56036" y="602846"/>
            <a:ext cx="7514772" cy="4604987"/>
          </a:xfrm>
        </p:spPr>
        <p:txBody>
          <a:bodyPr>
            <a:normAutofit fontScale="90000"/>
          </a:bodyPr>
          <a:lstStyle/>
          <a:p>
            <a:r>
              <a:rPr lang="en-GB" dirty="0"/>
              <a:t>Project Description </a:t>
            </a:r>
            <a:br>
              <a:rPr lang="en-GB" dirty="0"/>
            </a:br>
            <a:br>
              <a:rPr lang="en-GB" dirty="0"/>
            </a:br>
            <a:r>
              <a:rPr lang="en-IN" sz="2700" b="0" dirty="0"/>
              <a:t>This project </a:t>
            </a:r>
            <a:r>
              <a:rPr lang="en-IN" sz="2700" b="0" dirty="0" err="1"/>
              <a:t>analyzes</a:t>
            </a:r>
            <a:r>
              <a:rPr lang="en-IN" sz="2700" b="0" dirty="0"/>
              <a:t> agricultural performance across different seasons using data on crop production, environmental conditions, farming practices, resource usage, and economic factors. The dataset is cleaned and explored using statistical and visualization techniques to compare seasonal performance, identify patterns and trends, and study relationships between important agricultural factors. The analysis provides insights into crop yield, water usage, costs, revenue, and profit, helping in better agricultural planning and resource management.</a:t>
            </a:r>
            <a:br>
              <a:rPr lang="en-IN" sz="2400" dirty="0"/>
            </a:br>
            <a:br>
              <a:rPr lang="en-GB" dirty="0"/>
            </a:br>
            <a:br>
              <a:rPr lang="en-GB" dirty="0"/>
            </a:br>
            <a:br>
              <a:rPr lang="en-GB" dirty="0"/>
            </a:br>
            <a:br>
              <a:rPr lang="en-GB" sz="2700" dirty="0"/>
            </a:br>
            <a:endParaRPr lang="en-IN" sz="27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33983" y="1579130"/>
            <a:ext cx="6691812" cy="3990023"/>
          </a:xfrm>
        </p:spPr>
        <p:txBody>
          <a:bodyPr>
            <a:normAutofit/>
          </a:bodyPr>
          <a:lstStyle/>
          <a:p>
            <a:pPr>
              <a:lnSpc>
                <a:spcPct val="100000"/>
              </a:lnSpc>
            </a:pPr>
            <a:r>
              <a:rPr lang="en-IN" sz="2400" dirty="0"/>
              <a:t>The main end users of this project are </a:t>
            </a:r>
            <a:r>
              <a:rPr lang="en-IN" sz="2400" b="1" dirty="0"/>
              <a:t>farmers, agricultural researchers, agricultural planners, government agencies, and agribusiness organizations</a:t>
            </a:r>
            <a:r>
              <a:rPr lang="en-IN" sz="2400" dirty="0"/>
              <a:t>. The insights can help them understand seasonal crop performance, optimize resource usage, and make better decisions regarding agricultural planning and management.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Data analysis and processing </a:t>
            </a:r>
          </a:p>
          <a:p>
            <a:pPr lvl="0"/>
            <a:r>
              <a:rPr lang="en-IN" sz="2400" b="1" dirty="0">
                <a:latin typeface="Times New Roman" panose="02020603050405020304" pitchFamily="18" charset="0"/>
                <a:cs typeface="Times New Roman" panose="02020603050405020304" pitchFamily="18" charset="0"/>
              </a:rPr>
              <a:t>Pandas</a:t>
            </a:r>
            <a:r>
              <a:rPr lang="en-IN" sz="2400" dirty="0">
                <a:latin typeface="Times New Roman" panose="02020603050405020304" pitchFamily="18" charset="0"/>
                <a:cs typeface="Times New Roman" panose="02020603050405020304" pitchFamily="18" charset="0"/>
              </a:rPr>
              <a:t> – Data cleaning and manipulation </a:t>
            </a:r>
          </a:p>
          <a:p>
            <a:pPr lvl="0"/>
            <a:r>
              <a:rPr lang="en-IN" sz="2400" b="1" dirty="0">
                <a:latin typeface="Times New Roman" panose="02020603050405020304" pitchFamily="18" charset="0"/>
                <a:cs typeface="Times New Roman" panose="02020603050405020304" pitchFamily="18" charset="0"/>
              </a:rPr>
              <a:t>NumPy</a:t>
            </a:r>
            <a:r>
              <a:rPr lang="en-IN" sz="2400" dirty="0">
                <a:latin typeface="Times New Roman" panose="02020603050405020304" pitchFamily="18" charset="0"/>
                <a:cs typeface="Times New Roman" panose="02020603050405020304" pitchFamily="18" charset="0"/>
              </a:rPr>
              <a:t> – Numerical computations </a:t>
            </a:r>
          </a:p>
          <a:p>
            <a:pPr lvl="0"/>
            <a:r>
              <a:rPr lang="en-IN" sz="2400" b="1" dirty="0">
                <a:latin typeface="Times New Roman" panose="02020603050405020304" pitchFamily="18" charset="0"/>
                <a:cs typeface="Times New Roman" panose="02020603050405020304" pitchFamily="18" charset="0"/>
              </a:rPr>
              <a:t>Matplotlib &amp; Seaborn</a:t>
            </a:r>
            <a:r>
              <a:rPr lang="en-IN" sz="2400" dirty="0">
                <a:latin typeface="Times New Roman" panose="02020603050405020304" pitchFamily="18" charset="0"/>
                <a:cs typeface="Times New Roman" panose="02020603050405020304" pitchFamily="18" charset="0"/>
              </a:rPr>
              <a:t> – Data visualization </a:t>
            </a:r>
          </a:p>
          <a:p>
            <a:pPr lvl="0"/>
            <a:r>
              <a:rPr lang="en-IN" sz="2400" b="1" dirty="0">
                <a:latin typeface="Times New Roman" panose="02020603050405020304" pitchFamily="18" charset="0"/>
                <a:cs typeface="Times New Roman" panose="02020603050405020304" pitchFamily="18" charset="0"/>
              </a:rPr>
              <a:t>Jupyter Notebook</a:t>
            </a:r>
            <a:r>
              <a:rPr lang="en-IN" sz="2400" dirty="0">
                <a:latin typeface="Times New Roman" panose="02020603050405020304" pitchFamily="18" charset="0"/>
                <a:cs typeface="Times New Roman" panose="02020603050405020304" pitchFamily="18" charset="0"/>
              </a:rPr>
              <a:t> – Analysis and presentation of results </a:t>
            </a:r>
          </a:p>
          <a:p>
            <a:pPr lvl="0"/>
            <a:r>
              <a:rPr lang="en-IN" sz="2400" b="1" dirty="0">
                <a:latin typeface="Times New Roman" panose="02020603050405020304" pitchFamily="18" charset="0"/>
                <a:cs typeface="Times New Roman" panose="02020603050405020304" pitchFamily="18" charset="0"/>
              </a:rPr>
              <a:t>CSV Dataset</a:t>
            </a:r>
            <a:r>
              <a:rPr lang="en-IN" sz="2400" dirty="0">
                <a:latin typeface="Times New Roman" panose="02020603050405020304" pitchFamily="18" charset="0"/>
                <a:cs typeface="Times New Roman" panose="02020603050405020304" pitchFamily="18" charset="0"/>
              </a:rPr>
              <a:t> – Seasonal Agriculture Performance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997333CF-3485-6411-67B6-F09099B0C296}"/>
              </a:ext>
            </a:extLst>
          </p:cNvPr>
          <p:cNvPicPr>
            <a:picLocks noChangeAspect="1"/>
          </p:cNvPicPr>
          <p:nvPr/>
        </p:nvPicPr>
        <p:blipFill>
          <a:blip r:embed="rId3"/>
          <a:stretch>
            <a:fillRect/>
          </a:stretch>
        </p:blipFill>
        <p:spPr>
          <a:xfrm>
            <a:off x="577566" y="1608410"/>
            <a:ext cx="5065786" cy="4407417"/>
          </a:xfrm>
          <a:prstGeom prst="rect">
            <a:avLst/>
          </a:prstGeom>
        </p:spPr>
      </p:pic>
      <p:pic>
        <p:nvPicPr>
          <p:cNvPr id="10" name="Picture 9">
            <a:extLst>
              <a:ext uri="{FF2B5EF4-FFF2-40B4-BE49-F238E27FC236}">
                <a16:creationId xmlns:a16="http://schemas.microsoft.com/office/drawing/2014/main" id="{B99EB013-4EEB-0D09-A35E-6578048202F7}"/>
              </a:ext>
            </a:extLst>
          </p:cNvPr>
          <p:cNvPicPr>
            <a:picLocks noChangeAspect="1"/>
          </p:cNvPicPr>
          <p:nvPr/>
        </p:nvPicPr>
        <p:blipFill>
          <a:blip r:embed="rId4"/>
          <a:stretch>
            <a:fillRect/>
          </a:stretch>
        </p:blipFill>
        <p:spPr>
          <a:xfrm>
            <a:off x="6219314" y="1984992"/>
            <a:ext cx="4302183" cy="316740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FA634C0-5FCA-04A3-4F5D-0B8923B25AEA}"/>
              </a:ext>
            </a:extLst>
          </p:cNvPr>
          <p:cNvPicPr>
            <a:picLocks noChangeAspect="1"/>
          </p:cNvPicPr>
          <p:nvPr/>
        </p:nvPicPr>
        <p:blipFill>
          <a:blip r:embed="rId3"/>
          <a:stretch>
            <a:fillRect/>
          </a:stretch>
        </p:blipFill>
        <p:spPr>
          <a:xfrm>
            <a:off x="413339" y="1646510"/>
            <a:ext cx="5347710" cy="3797649"/>
          </a:xfrm>
          <a:prstGeom prst="rect">
            <a:avLst/>
          </a:prstGeom>
        </p:spPr>
      </p:pic>
      <p:pic>
        <p:nvPicPr>
          <p:cNvPr id="11" name="Picture 10">
            <a:extLst>
              <a:ext uri="{FF2B5EF4-FFF2-40B4-BE49-F238E27FC236}">
                <a16:creationId xmlns:a16="http://schemas.microsoft.com/office/drawing/2014/main" id="{95B6780C-F9C2-D182-4499-532ABBFE6ED0}"/>
              </a:ext>
            </a:extLst>
          </p:cNvPr>
          <p:cNvPicPr>
            <a:picLocks noChangeAspect="1"/>
          </p:cNvPicPr>
          <p:nvPr/>
        </p:nvPicPr>
        <p:blipFill>
          <a:blip r:embed="rId4"/>
          <a:stretch>
            <a:fillRect/>
          </a:stretch>
        </p:blipFill>
        <p:spPr>
          <a:xfrm>
            <a:off x="5968488" y="1865533"/>
            <a:ext cx="5018314" cy="325756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E4726617-0831-8DDA-9C7A-B01FBB6280E2}"/>
              </a:ext>
            </a:extLst>
          </p:cNvPr>
          <p:cNvPicPr>
            <a:picLocks noChangeAspect="1"/>
          </p:cNvPicPr>
          <p:nvPr/>
        </p:nvPicPr>
        <p:blipFill>
          <a:blip r:embed="rId3"/>
          <a:stretch>
            <a:fillRect/>
          </a:stretch>
        </p:blipFill>
        <p:spPr>
          <a:xfrm>
            <a:off x="361403" y="1755046"/>
            <a:ext cx="5656071" cy="3508196"/>
          </a:xfrm>
          <a:prstGeom prst="rect">
            <a:avLst/>
          </a:prstGeom>
        </p:spPr>
      </p:pic>
      <p:pic>
        <p:nvPicPr>
          <p:cNvPr id="13" name="Picture 12">
            <a:extLst>
              <a:ext uri="{FF2B5EF4-FFF2-40B4-BE49-F238E27FC236}">
                <a16:creationId xmlns:a16="http://schemas.microsoft.com/office/drawing/2014/main" id="{13D8BBCC-C5ED-1C45-63AD-E9976EEAD61D}"/>
              </a:ext>
            </a:extLst>
          </p:cNvPr>
          <p:cNvPicPr>
            <a:picLocks noChangeAspect="1"/>
          </p:cNvPicPr>
          <p:nvPr/>
        </p:nvPicPr>
        <p:blipFill>
          <a:blip r:embed="rId4"/>
          <a:stretch>
            <a:fillRect/>
          </a:stretch>
        </p:blipFill>
        <p:spPr>
          <a:xfrm>
            <a:off x="6493329" y="1884410"/>
            <a:ext cx="4335228" cy="324946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A42912D-5E3A-D65D-2470-9941CE853729}"/>
              </a:ext>
            </a:extLst>
          </p:cNvPr>
          <p:cNvPicPr>
            <a:picLocks noChangeAspect="1"/>
          </p:cNvPicPr>
          <p:nvPr/>
        </p:nvPicPr>
        <p:blipFill>
          <a:blip r:embed="rId3"/>
          <a:stretch>
            <a:fillRect/>
          </a:stretch>
        </p:blipFill>
        <p:spPr>
          <a:xfrm>
            <a:off x="386442" y="1608410"/>
            <a:ext cx="5389196" cy="3827110"/>
          </a:xfrm>
          <a:prstGeom prst="rect">
            <a:avLst/>
          </a:prstGeom>
        </p:spPr>
      </p:pic>
      <p:pic>
        <p:nvPicPr>
          <p:cNvPr id="11" name="Picture 10">
            <a:extLst>
              <a:ext uri="{FF2B5EF4-FFF2-40B4-BE49-F238E27FC236}">
                <a16:creationId xmlns:a16="http://schemas.microsoft.com/office/drawing/2014/main" id="{B3C13D60-EA0B-A8CA-C491-2E5D00BA385E}"/>
              </a:ext>
            </a:extLst>
          </p:cNvPr>
          <p:cNvPicPr>
            <a:picLocks noChangeAspect="1"/>
          </p:cNvPicPr>
          <p:nvPr/>
        </p:nvPicPr>
        <p:blipFill>
          <a:blip r:embed="rId4"/>
          <a:stretch>
            <a:fillRect/>
          </a:stretch>
        </p:blipFill>
        <p:spPr>
          <a:xfrm>
            <a:off x="5924524" y="1800213"/>
            <a:ext cx="5233334" cy="325757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7A37513-1F05-558E-9331-3D9D33DD7331}"/>
              </a:ext>
            </a:extLst>
          </p:cNvPr>
          <p:cNvPicPr>
            <a:picLocks noChangeAspect="1"/>
          </p:cNvPicPr>
          <p:nvPr/>
        </p:nvPicPr>
        <p:blipFill>
          <a:blip r:embed="rId3"/>
          <a:stretch>
            <a:fillRect/>
          </a:stretch>
        </p:blipFill>
        <p:spPr>
          <a:xfrm>
            <a:off x="462643" y="1652794"/>
            <a:ext cx="5002376" cy="3552412"/>
          </a:xfrm>
          <a:prstGeom prst="rect">
            <a:avLst/>
          </a:prstGeom>
        </p:spPr>
      </p:pic>
      <p:pic>
        <p:nvPicPr>
          <p:cNvPr id="11" name="Picture 10">
            <a:extLst>
              <a:ext uri="{FF2B5EF4-FFF2-40B4-BE49-F238E27FC236}">
                <a16:creationId xmlns:a16="http://schemas.microsoft.com/office/drawing/2014/main" id="{A39905E6-B9DC-F32C-6312-D68FEAD79146}"/>
              </a:ext>
            </a:extLst>
          </p:cNvPr>
          <p:cNvPicPr>
            <a:picLocks noChangeAspect="1"/>
          </p:cNvPicPr>
          <p:nvPr/>
        </p:nvPicPr>
        <p:blipFill>
          <a:blip r:embed="rId4"/>
          <a:stretch>
            <a:fillRect/>
          </a:stretch>
        </p:blipFill>
        <p:spPr>
          <a:xfrm>
            <a:off x="5655519" y="1941449"/>
            <a:ext cx="5002377" cy="272892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545329" y="1275371"/>
            <a:ext cx="6417275" cy="4483172"/>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indent="-342900" algn="l">
              <a:buFont typeface="Arial" panose="020B0604020202020204" pitchFamily="34" charset="0"/>
              <a:buChar char="•"/>
            </a:pPr>
            <a:r>
              <a:rPr lang="en-IN" sz="2400" dirty="0"/>
              <a:t>The project can be further enhanced by integrating </a:t>
            </a:r>
            <a:r>
              <a:rPr lang="en-IN" sz="2400" b="1" dirty="0"/>
              <a:t>real-time agricultural data, weather and soil information, and advanced machine learning models</a:t>
            </a:r>
            <a:r>
              <a:rPr lang="en-IN" sz="2400" dirty="0"/>
              <a:t> to predict crop yield and profitability. A recommendation system could also be developed to suggest </a:t>
            </a:r>
            <a:r>
              <a:rPr lang="en-IN" sz="2400" b="1" dirty="0"/>
              <a:t>suitable crops, optimal resource usage, and farming strategies for each season</a:t>
            </a:r>
            <a:r>
              <a:rPr lang="en-IN" sz="2400" dirty="0"/>
              <a:t>. This can help farmers and agricultural planners make more accurate, data-driven decisions</a:t>
            </a:r>
            <a:r>
              <a:rPr lang="en-IN" sz="2000" dirty="0"/>
              <a:t>.</a:t>
            </a:r>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275371"/>
            <a:ext cx="7232875" cy="646331"/>
          </a:xfrm>
          <a:prstGeom prst="rect">
            <a:avLst/>
          </a:prstGeom>
          <a:noFill/>
        </p:spPr>
        <p:txBody>
          <a:bodyPr wrap="square">
            <a:spAutoFit/>
          </a:bodyPr>
          <a:lstStyle/>
          <a:p>
            <a:pPr marL="285750" indent="-285750">
              <a:buFont typeface="Arial" panose="020B0604020202020204" pitchFamily="34" charset="0"/>
              <a:buChar char="•"/>
            </a:pPr>
            <a:r>
              <a:rPr lang="en-US" dirty="0"/>
              <a:t>https://github.com/melisha-lewis/Seasonal_Agricultural_Performance_Analysis.git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849EFBB1-06E8-F098-B992-F9EE51D29068}"/>
              </a:ext>
            </a:extLst>
          </p:cNvPr>
          <p:cNvPicPr>
            <a:picLocks noChangeAspect="1"/>
          </p:cNvPicPr>
          <p:nvPr/>
        </p:nvPicPr>
        <p:blipFill>
          <a:blip r:embed="rId3"/>
          <a:stretch>
            <a:fillRect/>
          </a:stretch>
        </p:blipFill>
        <p:spPr>
          <a:xfrm>
            <a:off x="1108959" y="1608410"/>
            <a:ext cx="6127752" cy="431212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79600" y="2545370"/>
            <a:ext cx="11340000" cy="700114"/>
          </a:xfrm>
          <a:prstGeom prst="rect">
            <a:avLst/>
          </a:prstGeom>
        </p:spPr>
        <p:txBody>
          <a:bodyPr anchor="ctr">
            <a:noAutofit/>
          </a:bodyPr>
          <a:lstStyle/>
          <a:p>
            <a:pPr algn="ctr"/>
            <a:r>
              <a:rPr lang="en-US" sz="72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0"/>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1414</TotalTime>
  <Words>382</Words>
  <Application>Microsoft Office PowerPoint</Application>
  <PresentationFormat>Widescreen</PresentationFormat>
  <Paragraphs>30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Agricultural Performance Analysis</vt:lpstr>
      <vt:lpstr>PROBLEM  STATEMENT</vt:lpstr>
      <vt:lpstr>Project Description   This project analyzes agricultural performance across different seasons using data on crop production, environmental conditions, farming practices, resource usage, and economic factors. The dataset is cleaned and explored using statistical and visualization techniques to compare seasonal performance, identify patterns and trends, and study relationships between important agricultural factors. The analysis provides insights into crop yield, water usage, costs, revenue, and profit, helping in better agricultural planning and resource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Melisha Lewis</cp:lastModifiedBy>
  <cp:revision>106</cp:revision>
  <dcterms:created xsi:type="dcterms:W3CDTF">2021-07-11T13:13:15Z</dcterms:created>
  <dcterms:modified xsi:type="dcterms:W3CDTF">2026-09-10T05:28:08Z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